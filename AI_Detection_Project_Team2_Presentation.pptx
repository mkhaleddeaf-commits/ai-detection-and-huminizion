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67" r:id="rId5"/>
    <p:sldId id="259" r:id="rId6"/>
    <p:sldId id="269" r:id="rId7"/>
    <p:sldId id="260" r:id="rId8"/>
    <p:sldId id="270" r:id="rId9"/>
    <p:sldId id="261" r:id="rId10"/>
    <p:sldId id="271" r:id="rId11"/>
    <p:sldId id="274" r:id="rId12"/>
    <p:sldId id="262" r:id="rId13"/>
    <p:sldId id="272" r:id="rId14"/>
    <p:sldId id="263" r:id="rId15"/>
    <p:sldId id="273" r:id="rId16"/>
    <p:sldId id="268" r:id="rId17"/>
    <p:sldId id="275" r:id="rId18"/>
    <p:sldId id="264" r:id="rId19"/>
    <p:sldId id="265" r:id="rId20"/>
    <p:sldId id="266" r:id="rId2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48" d="100"/>
          <a:sy n="48" d="100"/>
        </p:scale>
        <p:origin x="149" y="5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657600" cy="6858000"/>
          </a:xfrm>
          <a:prstGeom prst="rect">
            <a:avLst/>
          </a:prstGeom>
          <a:solidFill>
            <a:srgbClr val="1830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94360" y="1051560"/>
            <a:ext cx="27432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000" b="1">
                <a:solidFill>
                  <a:srgbClr val="FFFFFF"/>
                </a:solidFill>
              </a:defRPr>
            </a:pPr>
            <a:r>
              <a:t>AI TEXT</a:t>
            </a:r>
          </a:p>
          <a:p>
            <a:pPr>
              <a:defRPr sz="4000" b="1">
                <a:solidFill>
                  <a:srgbClr val="FFFFFF"/>
                </a:solidFill>
              </a:defRPr>
            </a:pPr>
            <a:r>
              <a:t>DETECTION</a:t>
            </a:r>
          </a:p>
          <a:p>
            <a:pPr>
              <a:defRPr sz="4000" b="1">
                <a:solidFill>
                  <a:srgbClr val="AAD2FF"/>
                </a:solidFill>
              </a:defRPr>
            </a:pPr>
            <a:r>
              <a:t>SYSTEM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60520" y="1234440"/>
            <a:ext cx="7898701" cy="53860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900" b="1">
                <a:solidFill>
                  <a:srgbClr val="183058"/>
                </a:solidFill>
              </a:defRPr>
            </a:pPr>
            <a:r>
              <a:rPr dirty="0"/>
              <a:t>End-to-End AI Detection &amp; Optional Humanization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60520" y="2971800"/>
            <a:ext cx="7040880" cy="247760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6946AA"/>
                </a:solidFill>
              </a:defRPr>
            </a:pPr>
            <a:endParaRPr lang="ar-EG" dirty="0"/>
          </a:p>
          <a:p>
            <a:pPr>
              <a:defRPr sz="2000" b="1">
                <a:solidFill>
                  <a:srgbClr val="6946AA"/>
                </a:solidFill>
              </a:defRPr>
            </a:pPr>
            <a:r>
              <a:rPr dirty="0"/>
              <a:t>PROJECT TEAM</a:t>
            </a:r>
            <a:r>
              <a:rPr lang="ar-EG" dirty="0"/>
              <a:t> 2 </a:t>
            </a:r>
            <a:endParaRPr dirty="0"/>
          </a:p>
          <a:p>
            <a:pPr>
              <a:spcAft>
                <a:spcPts val="600"/>
              </a:spcAft>
              <a:defRPr sz="1900">
                <a:solidFill>
                  <a:srgbClr val="232830"/>
                </a:solidFill>
              </a:defRPr>
            </a:pPr>
            <a:r>
              <a:rPr dirty="0"/>
              <a:t>• Mohamed Khaled</a:t>
            </a:r>
          </a:p>
          <a:p>
            <a:pPr>
              <a:spcAft>
                <a:spcPts val="600"/>
              </a:spcAft>
              <a:defRPr sz="1900">
                <a:solidFill>
                  <a:srgbClr val="232830"/>
                </a:solidFill>
              </a:defRPr>
            </a:pPr>
            <a:r>
              <a:rPr dirty="0"/>
              <a:t>• </a:t>
            </a:r>
            <a:r>
              <a:rPr lang="en-US" dirty="0"/>
              <a:t>Mohamed Azouz </a:t>
            </a:r>
          </a:p>
          <a:p>
            <a:pPr>
              <a:spcAft>
                <a:spcPts val="600"/>
              </a:spcAft>
              <a:defRPr sz="1900">
                <a:solidFill>
                  <a:srgbClr val="232830"/>
                </a:solidFill>
              </a:defRPr>
            </a:pPr>
            <a:r>
              <a:rPr dirty="0"/>
              <a:t>• Khaled Tarek</a:t>
            </a:r>
          </a:p>
          <a:p>
            <a:pPr>
              <a:spcAft>
                <a:spcPts val="600"/>
              </a:spcAft>
              <a:defRPr sz="1900">
                <a:solidFill>
                  <a:srgbClr val="232830"/>
                </a:solidFill>
              </a:defRPr>
            </a:pPr>
            <a:r>
              <a:rPr dirty="0"/>
              <a:t>• Abdelrahman Sherif</a:t>
            </a:r>
            <a:endParaRPr lang="ar-EG" dirty="0"/>
          </a:p>
          <a:p>
            <a:pPr>
              <a:spcAft>
                <a:spcPts val="600"/>
              </a:spcAft>
              <a:defRPr sz="1900">
                <a:solidFill>
                  <a:srgbClr val="232830"/>
                </a:solidFill>
              </a:defRPr>
            </a:pPr>
            <a:r>
              <a:rPr lang="en-US" dirty="0"/>
              <a:t>• Adham Abd Kader</a:t>
            </a:r>
            <a:endParaRPr dirty="0"/>
          </a:p>
        </p:txBody>
      </p:sp>
      <p:sp>
        <p:nvSpPr>
          <p:cNvPr id="7" name="Rectangle 6"/>
          <p:cNvSpPr/>
          <p:nvPr/>
        </p:nvSpPr>
        <p:spPr>
          <a:xfrm>
            <a:off x="594360" y="6510528"/>
            <a:ext cx="10972800" cy="13716"/>
          </a:xfrm>
          <a:prstGeom prst="rect">
            <a:avLst/>
          </a:prstGeom>
          <a:solidFill>
            <a:srgbClr val="DCE1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0881360" y="6556248"/>
            <a:ext cx="640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46C78"/>
                </a:solidFill>
              </a:defRPr>
            </a:pPr>
            <a: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183058"/>
                </a:solidFill>
              </a:defRPr>
            </a:pPr>
            <a:r>
              <a:t>1. Project Objective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932688"/>
            <a:ext cx="107899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646C78"/>
                </a:solidFill>
              </a:defRPr>
            </a:pPr>
            <a:r>
              <a:t>What the system is designed to do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371600"/>
            <a:ext cx="3474720" cy="43891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C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640080" y="1371600"/>
            <a:ext cx="73152" cy="4389120"/>
          </a:xfrm>
          <a:prstGeom prst="rect">
            <a:avLst/>
          </a:prstGeom>
          <a:solidFill>
            <a:srgbClr val="3769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68680" y="1536192"/>
            <a:ext cx="3063239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900" b="1">
                <a:solidFill>
                  <a:srgbClr val="3769B4"/>
                </a:solidFill>
              </a:defRPr>
            </a:pPr>
            <a:r>
              <a:t>Detect AI-Generated Text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2057400"/>
            <a:ext cx="3063239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500">
                <a:solidFill>
                  <a:srgbClr val="232830"/>
                </a:solidFill>
              </a:defRPr>
            </a:pPr>
            <a:r>
              <a:t>• Accept text or uploaded documents.</a:t>
            </a:r>
          </a:p>
          <a:p>
            <a:pPr>
              <a:spcAft>
                <a:spcPts val="700"/>
              </a:spcAft>
              <a:defRPr sz="1500">
                <a:solidFill>
                  <a:srgbClr val="232830"/>
                </a:solidFill>
              </a:defRPr>
            </a:pPr>
            <a:r>
              <a:t>• Process long documents through chunks.</a:t>
            </a:r>
          </a:p>
          <a:p>
            <a:pPr>
              <a:spcAft>
                <a:spcPts val="700"/>
              </a:spcAft>
              <a:defRPr sz="1500">
                <a:solidFill>
                  <a:srgbClr val="232830"/>
                </a:solidFill>
              </a:defRPr>
            </a:pPr>
            <a:r>
              <a:t>• Predict Human vs AI probabilities.</a:t>
            </a:r>
          </a:p>
          <a:p>
            <a:pPr>
              <a:spcAft>
                <a:spcPts val="700"/>
              </a:spcAft>
              <a:defRPr sz="1500">
                <a:solidFill>
                  <a:srgbClr val="232830"/>
                </a:solidFill>
              </a:defRPr>
            </a:pPr>
            <a:r>
              <a:t>• Produce an overall document-level decision.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43400" y="1371600"/>
            <a:ext cx="3474720" cy="43891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C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4343400" y="1371600"/>
            <a:ext cx="73152" cy="4389120"/>
          </a:xfrm>
          <a:prstGeom prst="rect">
            <a:avLst/>
          </a:prstGeom>
          <a:solidFill>
            <a:srgbClr val="6946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572000" y="1536192"/>
            <a:ext cx="3063239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900" b="1">
                <a:solidFill>
                  <a:srgbClr val="6946AA"/>
                </a:solidFill>
              </a:defRPr>
            </a:pPr>
            <a:r>
              <a:t>Optional Humanization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0" y="2057400"/>
            <a:ext cx="3063239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500">
                <a:solidFill>
                  <a:srgbClr val="232830"/>
                </a:solidFill>
              </a:defRPr>
            </a:pPr>
            <a:r>
              <a:t>• Humanization can be enabled from the UI.</a:t>
            </a:r>
          </a:p>
          <a:p>
            <a:pPr>
              <a:spcAft>
                <a:spcPts val="700"/>
              </a:spcAft>
              <a:defRPr sz="1500">
                <a:solidFill>
                  <a:srgbClr val="232830"/>
                </a:solidFill>
              </a:defRPr>
            </a:pPr>
            <a:r>
              <a:t>• T5-small is used as the generation component.</a:t>
            </a:r>
          </a:p>
          <a:p>
            <a:pPr>
              <a:spcAft>
                <a:spcPts val="700"/>
              </a:spcAft>
              <a:defRPr sz="1500">
                <a:solidFill>
                  <a:srgbClr val="232830"/>
                </a:solidFill>
              </a:defRPr>
            </a:pPr>
            <a:r>
              <a:t>• The generated output is returned separately.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46720" y="1371600"/>
            <a:ext cx="3474720" cy="43891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C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8046720" y="1371600"/>
            <a:ext cx="73152" cy="4389120"/>
          </a:xfrm>
          <a:prstGeom prst="rect">
            <a:avLst/>
          </a:prstGeom>
          <a:solidFill>
            <a:srgbClr val="3782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275320" y="1536192"/>
            <a:ext cx="3063239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900" b="1">
                <a:solidFill>
                  <a:srgbClr val="378250"/>
                </a:solidFill>
              </a:defRPr>
            </a:pPr>
            <a:r>
              <a:t>Simple User Experience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75320" y="2057400"/>
            <a:ext cx="3063239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500">
                <a:solidFill>
                  <a:srgbClr val="232830"/>
                </a:solidFill>
              </a:defRPr>
            </a:pPr>
            <a:r>
              <a:t>• Gradio interface.</a:t>
            </a:r>
          </a:p>
          <a:p>
            <a:pPr>
              <a:spcAft>
                <a:spcPts val="700"/>
              </a:spcAft>
              <a:defRPr sz="1500">
                <a:solidFill>
                  <a:srgbClr val="232830"/>
                </a:solidFill>
              </a:defRPr>
            </a:pPr>
            <a:r>
              <a:t>• PDF / DOCX / TXT support.</a:t>
            </a:r>
          </a:p>
          <a:p>
            <a:pPr>
              <a:spcAft>
                <a:spcPts val="700"/>
              </a:spcAft>
              <a:defRPr sz="1500">
                <a:solidFill>
                  <a:srgbClr val="232830"/>
                </a:solidFill>
              </a:defRPr>
            </a:pPr>
            <a:r>
              <a:t>• Pasted text is also supported.</a:t>
            </a:r>
          </a:p>
          <a:p>
            <a:pPr>
              <a:spcAft>
                <a:spcPts val="700"/>
              </a:spcAft>
              <a:defRPr sz="1500">
                <a:solidFill>
                  <a:srgbClr val="232830"/>
                </a:solidFill>
              </a:defRPr>
            </a:pPr>
            <a:r>
              <a:t>• Results are displayed in one workflow.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94360" y="6510528"/>
            <a:ext cx="10972800" cy="13716"/>
          </a:xfrm>
          <a:prstGeom prst="rect">
            <a:avLst/>
          </a:prstGeom>
          <a:solidFill>
            <a:srgbClr val="DCE1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10881360" y="6556248"/>
            <a:ext cx="640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46C78"/>
                </a:solidFill>
              </a:defRPr>
            </a:pPr>
            <a: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" name="Picture 4" descr="a_clean_vector_infographic_diagram_on_a_white_lig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9202" y="13716"/>
            <a:ext cx="10124453" cy="6749635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594360" y="6510528"/>
            <a:ext cx="10972800" cy="13716"/>
          </a:xfrm>
          <a:prstGeom prst="rect">
            <a:avLst/>
          </a:prstGeom>
          <a:solidFill>
            <a:srgbClr val="DCE1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0881360" y="6556248"/>
            <a:ext cx="640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46C78"/>
                </a:solidFill>
              </a:defRPr>
            </a:pPr>
            <a: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EB6AD1E9-4AA3-B836-E66A-EB46206AB56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2500" y="0"/>
            <a:ext cx="10287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1164905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183058"/>
                </a:solidFill>
              </a:defRPr>
            </a:pPr>
            <a:r>
              <a:t>3. Input &amp; Text Extraction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932688"/>
            <a:ext cx="107899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646C78"/>
                </a:solidFill>
              </a:defRPr>
            </a:pPr>
            <a:r>
              <a:t>The first stage converts different input formats into usable text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371600"/>
            <a:ext cx="3200400" cy="42976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C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731520" y="1371600"/>
            <a:ext cx="73152" cy="4297680"/>
          </a:xfrm>
          <a:prstGeom prst="rect">
            <a:avLst/>
          </a:prstGeom>
          <a:solidFill>
            <a:srgbClr val="3769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60120" y="1536192"/>
            <a:ext cx="27889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900" b="1">
                <a:solidFill>
                  <a:srgbClr val="3769B4"/>
                </a:solidFill>
              </a:defRPr>
            </a:pPr>
            <a:r>
              <a:t>Input Sources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2057400"/>
            <a:ext cx="278892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500">
                <a:solidFill>
                  <a:srgbClr val="232830"/>
                </a:solidFill>
              </a:defRPr>
            </a:pPr>
            <a:r>
              <a:t>• PDF documents</a:t>
            </a:r>
          </a:p>
          <a:p>
            <a:pPr>
              <a:spcAft>
                <a:spcPts val="700"/>
              </a:spcAft>
              <a:defRPr sz="1500">
                <a:solidFill>
                  <a:srgbClr val="232830"/>
                </a:solidFill>
              </a:defRPr>
            </a:pPr>
            <a:r>
              <a:t>• DOCX documents</a:t>
            </a:r>
          </a:p>
          <a:p>
            <a:pPr>
              <a:spcAft>
                <a:spcPts val="700"/>
              </a:spcAft>
              <a:defRPr sz="1500">
                <a:solidFill>
                  <a:srgbClr val="232830"/>
                </a:solidFill>
              </a:defRPr>
            </a:pPr>
            <a:r>
              <a:t>• TXT files</a:t>
            </a:r>
          </a:p>
          <a:p>
            <a:pPr>
              <a:spcAft>
                <a:spcPts val="700"/>
              </a:spcAft>
              <a:defRPr sz="1500">
                <a:solidFill>
                  <a:srgbClr val="232830"/>
                </a:solidFill>
              </a:defRPr>
            </a:pPr>
            <a:r>
              <a:t>• Pasted text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80560" y="1371600"/>
            <a:ext cx="3200400" cy="42976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C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4480560" y="1371600"/>
            <a:ext cx="73152" cy="4297680"/>
          </a:xfrm>
          <a:prstGeom prst="rect">
            <a:avLst/>
          </a:prstGeom>
          <a:solidFill>
            <a:srgbClr val="3782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709160" y="1536192"/>
            <a:ext cx="27889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900" b="1">
                <a:solidFill>
                  <a:srgbClr val="378250"/>
                </a:solidFill>
              </a:defRPr>
            </a:pPr>
            <a:r>
              <a:t>Extraction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709160" y="2057400"/>
            <a:ext cx="278892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500">
                <a:solidFill>
                  <a:srgbClr val="232830"/>
                </a:solidFill>
              </a:defRPr>
            </a:pPr>
            <a:r>
              <a:t>• file_handler.process_file</a:t>
            </a:r>
          </a:p>
          <a:p>
            <a:pPr>
              <a:spcAft>
                <a:spcPts val="700"/>
              </a:spcAft>
              <a:defRPr sz="1500">
                <a:solidFill>
                  <a:srgbClr val="232830"/>
                </a:solidFill>
              </a:defRPr>
            </a:pPr>
            <a:r>
              <a:t>• merge_output()</a:t>
            </a:r>
          </a:p>
          <a:p>
            <a:pPr>
              <a:spcAft>
                <a:spcPts val="700"/>
              </a:spcAft>
              <a:defRPr sz="1500">
                <a:solidFill>
                  <a:srgbClr val="232830"/>
                </a:solidFill>
              </a:defRPr>
            </a:pPr>
            <a:r>
              <a:t>• Extracted text becomes the common representation.</a:t>
            </a:r>
          </a:p>
          <a:p>
            <a:pPr>
              <a:spcAft>
                <a:spcPts val="700"/>
              </a:spcAft>
              <a:defRPr sz="1500">
                <a:solidFill>
                  <a:srgbClr val="232830"/>
                </a:solidFill>
              </a:defRPr>
            </a:pPr>
            <a:r>
              <a:t>• The same downstream pipeline is used for all inputs.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229600" y="1371600"/>
            <a:ext cx="3200400" cy="42976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C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8229600" y="1371600"/>
            <a:ext cx="73152" cy="4297680"/>
          </a:xfrm>
          <a:prstGeom prst="rect">
            <a:avLst/>
          </a:prstGeom>
          <a:solidFill>
            <a:srgbClr val="DC8C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458200" y="1536192"/>
            <a:ext cx="27889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900" b="1">
                <a:solidFill>
                  <a:srgbClr val="DC8C28"/>
                </a:solidFill>
              </a:defRPr>
            </a:pPr>
            <a:r>
              <a:t>Why This Matters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458200" y="2057400"/>
            <a:ext cx="278892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500">
                <a:solidFill>
                  <a:srgbClr val="232830"/>
                </a:solidFill>
              </a:defRPr>
            </a:pPr>
            <a:r>
              <a:t>• Handles multiple document formats.</a:t>
            </a:r>
          </a:p>
          <a:p>
            <a:pPr>
              <a:spcAft>
                <a:spcPts val="700"/>
              </a:spcAft>
              <a:defRPr sz="1500">
                <a:solidFill>
                  <a:srgbClr val="232830"/>
                </a:solidFill>
              </a:defRPr>
            </a:pPr>
            <a:r>
              <a:t>• Separates file processing from ML inference.</a:t>
            </a:r>
          </a:p>
          <a:p>
            <a:pPr>
              <a:spcAft>
                <a:spcPts val="700"/>
              </a:spcAft>
              <a:defRPr sz="1500">
                <a:solidFill>
                  <a:srgbClr val="232830"/>
                </a:solidFill>
              </a:defRPr>
            </a:pPr>
            <a:r>
              <a:t>• Creates a clean input for chunking.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94360" y="6510528"/>
            <a:ext cx="10972800" cy="13716"/>
          </a:xfrm>
          <a:prstGeom prst="rect">
            <a:avLst/>
          </a:prstGeom>
          <a:solidFill>
            <a:srgbClr val="DCE1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10881360" y="6556248"/>
            <a:ext cx="640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46C78"/>
                </a:solidFill>
              </a:defRPr>
            </a:pPr>
            <a:r>
              <a:t>4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42A4FC2C-047E-45A5-965D-8E1E3BF09B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59DD4057-6F71-C2A3-0928-D22C5FF92F97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623" r="248" b="1"/>
          <a:stretch>
            <a:fillRect/>
          </a:stretch>
        </p:blipFill>
        <p:spPr>
          <a:xfrm>
            <a:off x="20" y="1282"/>
            <a:ext cx="12191980" cy="68567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2862105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183058"/>
                </a:solidFill>
              </a:defRPr>
            </a:pPr>
            <a:r>
              <a:t>4. Smart Chunking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932688"/>
            <a:ext cx="107899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646C78"/>
                </a:solidFill>
              </a:defRPr>
            </a:pPr>
            <a:r>
              <a:t>Long text is divided into manageable pieces before classification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2011680"/>
            <a:ext cx="1600200" cy="96012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3769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1">
                <a:solidFill>
                  <a:srgbClr val="3769B4"/>
                </a:solidFill>
              </a:defRPr>
            </a:pPr>
            <a:r>
              <a:t>Full Text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926080" y="2011680"/>
            <a:ext cx="1600200" cy="96012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DC8C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1">
                <a:solidFill>
                  <a:srgbClr val="DC8C28"/>
                </a:solidFill>
              </a:defRPr>
            </a:pPr>
            <a:r>
              <a:t>Sentence / Line Split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0" y="2011680"/>
            <a:ext cx="1600200" cy="96012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3782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1">
                <a:solidFill>
                  <a:srgbClr val="378250"/>
                </a:solidFill>
              </a:defRPr>
            </a:pPr>
            <a:r>
              <a:t>Chunk 1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406640" y="2011680"/>
            <a:ext cx="1600200" cy="96012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3782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1">
                <a:solidFill>
                  <a:srgbClr val="378250"/>
                </a:solidFill>
              </a:defRPr>
            </a:pPr>
            <a:r>
              <a:t>Chunk 2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326880" y="2011680"/>
            <a:ext cx="1600200" cy="96012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6946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1">
                <a:solidFill>
                  <a:srgbClr val="6946AA"/>
                </a:solidFill>
              </a:defRPr>
            </a:pPr>
            <a:r>
              <a:t>… Chunk N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2331720" y="2286000"/>
            <a:ext cx="411480" cy="411480"/>
          </a:xfrm>
          <a:prstGeom prst="rightArrow">
            <a:avLst/>
          </a:prstGeom>
          <a:solidFill>
            <a:srgbClr val="646C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ight Arrow 10"/>
          <p:cNvSpPr/>
          <p:nvPr/>
        </p:nvSpPr>
        <p:spPr>
          <a:xfrm>
            <a:off x="4892040" y="2286000"/>
            <a:ext cx="411480" cy="411480"/>
          </a:xfrm>
          <a:prstGeom prst="rightArrow">
            <a:avLst/>
          </a:prstGeom>
          <a:solidFill>
            <a:srgbClr val="646C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ight Arrow 11"/>
          <p:cNvSpPr/>
          <p:nvPr/>
        </p:nvSpPr>
        <p:spPr>
          <a:xfrm>
            <a:off x="6812280" y="2286000"/>
            <a:ext cx="411480" cy="411480"/>
          </a:xfrm>
          <a:prstGeom prst="rightArrow">
            <a:avLst/>
          </a:prstGeom>
          <a:solidFill>
            <a:srgbClr val="646C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ight Arrow 12"/>
          <p:cNvSpPr/>
          <p:nvPr/>
        </p:nvSpPr>
        <p:spPr>
          <a:xfrm>
            <a:off x="8732520" y="2286000"/>
            <a:ext cx="411480" cy="411480"/>
          </a:xfrm>
          <a:prstGeom prst="rightArrow">
            <a:avLst/>
          </a:prstGeom>
          <a:solidFill>
            <a:srgbClr val="646C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ounded Rectangle 13"/>
          <p:cNvSpPr/>
          <p:nvPr/>
        </p:nvSpPr>
        <p:spPr>
          <a:xfrm>
            <a:off x="914400" y="3749039"/>
            <a:ext cx="4846320" cy="17373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C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914400" y="3749039"/>
            <a:ext cx="73152" cy="1737360"/>
          </a:xfrm>
          <a:prstGeom prst="rect">
            <a:avLst/>
          </a:prstGeom>
          <a:solidFill>
            <a:srgbClr val="DC8C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1143000" y="3913631"/>
            <a:ext cx="44348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900" b="1">
                <a:solidFill>
                  <a:srgbClr val="DC8C28"/>
                </a:solidFill>
              </a:defRPr>
            </a:pPr>
            <a:r>
              <a:t>Chunking Rules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43000" y="4434840"/>
            <a:ext cx="4434840" cy="9143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500">
                <a:solidFill>
                  <a:srgbClr val="232830"/>
                </a:solidFill>
              </a:defRPr>
            </a:pPr>
            <a:r>
              <a:t>• Sentence / line splitting with regex.</a:t>
            </a:r>
          </a:p>
          <a:p>
            <a:pPr>
              <a:spcAft>
                <a:spcPts val="700"/>
              </a:spcAft>
              <a:defRPr sz="1500">
                <a:solidFill>
                  <a:srgbClr val="232830"/>
                </a:solidFill>
              </a:defRPr>
            </a:pPr>
            <a:r>
              <a:t>• Target maximum of about 180 words per chunk.</a:t>
            </a:r>
          </a:p>
          <a:p>
            <a:pPr>
              <a:spcAft>
                <a:spcPts val="700"/>
              </a:spcAft>
              <a:defRPr sz="1500">
                <a:solidFill>
                  <a:srgbClr val="232830"/>
                </a:solidFill>
              </a:defRPr>
            </a:pPr>
            <a:r>
              <a:t>• Long units are force-split to stay manageable.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126480" y="3749039"/>
            <a:ext cx="4846320" cy="17373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C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6126480" y="3749039"/>
            <a:ext cx="73152" cy="1737360"/>
          </a:xfrm>
          <a:prstGeom prst="rect">
            <a:avLst/>
          </a:prstGeom>
          <a:solidFill>
            <a:srgbClr val="6946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355080" y="3913631"/>
            <a:ext cx="44348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900" b="1">
                <a:solidFill>
                  <a:srgbClr val="6946AA"/>
                </a:solidFill>
              </a:defRPr>
            </a:pPr>
            <a:r>
              <a:t>Model Constraint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55080" y="4434840"/>
            <a:ext cx="4434840" cy="9143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500">
                <a:solidFill>
                  <a:srgbClr val="232830"/>
                </a:solidFill>
              </a:defRPr>
            </a:pPr>
            <a:r>
              <a:t>• Each chunk is tokenized with truncation.</a:t>
            </a:r>
          </a:p>
          <a:p>
            <a:pPr>
              <a:spcAft>
                <a:spcPts val="700"/>
              </a:spcAft>
              <a:defRPr sz="1500">
                <a:solidFill>
                  <a:srgbClr val="232830"/>
                </a:solidFill>
              </a:defRPr>
            </a:pPr>
            <a:r>
              <a:t>• Detector inference uses max_length = 256 tokens.</a:t>
            </a:r>
          </a:p>
          <a:p>
            <a:pPr>
              <a:spcAft>
                <a:spcPts val="700"/>
              </a:spcAft>
              <a:defRPr sz="1500">
                <a:solidFill>
                  <a:srgbClr val="232830"/>
                </a:solidFill>
              </a:defRPr>
            </a:pPr>
            <a:r>
              <a:t>• Each chunk produces its own probabilities.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94360" y="6510528"/>
            <a:ext cx="10972800" cy="13716"/>
          </a:xfrm>
          <a:prstGeom prst="rect">
            <a:avLst/>
          </a:prstGeom>
          <a:solidFill>
            <a:srgbClr val="DCE1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10881360" y="6556248"/>
            <a:ext cx="640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46C78"/>
                </a:solidFill>
              </a:defRPr>
            </a:pPr>
            <a:r>
              <a:t>5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42A4FC2C-047E-45A5-965D-8E1E3BF09B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82AC0796-E6E3-5312-2A97-DF4DED07B624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871" r="1" b="1"/>
          <a:stretch>
            <a:fillRect/>
          </a:stretch>
        </p:blipFill>
        <p:spPr>
          <a:xfrm>
            <a:off x="20" y="1282"/>
            <a:ext cx="12191980" cy="68567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2504094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183058"/>
                </a:solidFill>
              </a:defRPr>
            </a:pPr>
            <a:r>
              <a:t>5. AI Text Detector — DeBERTa-v2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932688"/>
            <a:ext cx="107899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646C78"/>
                </a:solidFill>
              </a:defRPr>
            </a:pPr>
            <a:r>
              <a:t>Sequence classification is applied independently to each chunk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371600"/>
            <a:ext cx="320040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C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685800" y="1371600"/>
            <a:ext cx="73152" cy="4480560"/>
          </a:xfrm>
          <a:prstGeom prst="rect">
            <a:avLst/>
          </a:prstGeom>
          <a:solidFill>
            <a:srgbClr val="3769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14400" y="1536192"/>
            <a:ext cx="27889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900" b="1">
                <a:solidFill>
                  <a:srgbClr val="3769B4"/>
                </a:solidFill>
              </a:defRPr>
            </a:pPr>
            <a:r>
              <a:t>Tokenizer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057400"/>
            <a:ext cx="27889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500">
                <a:solidFill>
                  <a:srgbClr val="232830"/>
                </a:solidFill>
              </a:defRPr>
            </a:pPr>
            <a:r>
              <a:t>• AutoTokenizer from Transformers.</a:t>
            </a:r>
          </a:p>
          <a:p>
            <a:pPr>
              <a:spcAft>
                <a:spcPts val="700"/>
              </a:spcAft>
              <a:defRPr sz="1500">
                <a:solidFill>
                  <a:srgbClr val="232830"/>
                </a:solidFill>
              </a:defRPr>
            </a:pPr>
            <a:r>
              <a:t>• Text → token IDs.</a:t>
            </a:r>
          </a:p>
          <a:p>
            <a:pPr>
              <a:spcAft>
                <a:spcPts val="700"/>
              </a:spcAft>
              <a:defRPr sz="1500">
                <a:solidFill>
                  <a:srgbClr val="232830"/>
                </a:solidFill>
              </a:defRPr>
            </a:pPr>
            <a:r>
              <a:t>• Maximum sequence length: 256.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80560" y="1371600"/>
            <a:ext cx="320040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C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4480560" y="1371600"/>
            <a:ext cx="73152" cy="4480560"/>
          </a:xfrm>
          <a:prstGeom prst="rect">
            <a:avLst/>
          </a:prstGeom>
          <a:solidFill>
            <a:srgbClr val="6946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709160" y="1536192"/>
            <a:ext cx="27889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900" b="1">
                <a:solidFill>
                  <a:srgbClr val="6946AA"/>
                </a:solidFill>
              </a:defRPr>
            </a:pPr>
            <a:r>
              <a:t>DeBERTa-v2 Model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709160" y="2057400"/>
            <a:ext cx="2788920" cy="19774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500">
                <a:solidFill>
                  <a:srgbClr val="232830"/>
                </a:solidFill>
              </a:defRPr>
            </a:pPr>
            <a:r>
              <a:rPr dirty="0"/>
              <a:t>• </a:t>
            </a:r>
            <a:r>
              <a:rPr dirty="0" err="1"/>
              <a:t>AutoModelForSequenceClassification</a:t>
            </a:r>
            <a:r>
              <a:rPr dirty="0"/>
              <a:t>.</a:t>
            </a:r>
          </a:p>
          <a:p>
            <a:pPr>
              <a:spcAft>
                <a:spcPts val="700"/>
              </a:spcAft>
              <a:defRPr sz="1500">
                <a:solidFill>
                  <a:srgbClr val="232830"/>
                </a:solidFill>
              </a:defRPr>
            </a:pPr>
            <a:r>
              <a:rPr dirty="0"/>
              <a:t>• Loaded from the trained predictor directory.</a:t>
            </a:r>
          </a:p>
          <a:p>
            <a:pPr>
              <a:spcAft>
                <a:spcPts val="700"/>
              </a:spcAft>
              <a:defRPr sz="1500">
                <a:solidFill>
                  <a:srgbClr val="232830"/>
                </a:solidFill>
              </a:defRPr>
            </a:pPr>
            <a:r>
              <a:rPr dirty="0"/>
              <a:t>• Uses GPU when available.</a:t>
            </a:r>
            <a:endParaRPr lang="ar-EG" dirty="0"/>
          </a:p>
          <a:p>
            <a:pPr>
              <a:spcAft>
                <a:spcPts val="700"/>
              </a:spcAft>
              <a:defRPr sz="1500">
                <a:solidFill>
                  <a:srgbClr val="232830"/>
                </a:solidFill>
              </a:defRPr>
            </a:pPr>
            <a:endParaRPr dirty="0"/>
          </a:p>
        </p:txBody>
      </p:sp>
      <p:sp>
        <p:nvSpPr>
          <p:cNvPr id="13" name="Rounded Rectangle 12"/>
          <p:cNvSpPr/>
          <p:nvPr/>
        </p:nvSpPr>
        <p:spPr>
          <a:xfrm>
            <a:off x="8275320" y="1371600"/>
            <a:ext cx="320040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C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8275320" y="1371600"/>
            <a:ext cx="73152" cy="4480560"/>
          </a:xfrm>
          <a:prstGeom prst="rect">
            <a:avLst/>
          </a:prstGeom>
          <a:solidFill>
            <a:srgbClr val="3782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503920" y="1536192"/>
            <a:ext cx="27889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900" b="1">
                <a:solidFill>
                  <a:srgbClr val="378250"/>
                </a:solidFill>
              </a:defRPr>
            </a:pPr>
            <a:r>
              <a:t>Chunk Prediction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503920" y="2057400"/>
            <a:ext cx="27889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500">
                <a:solidFill>
                  <a:srgbClr val="232830"/>
                </a:solidFill>
              </a:defRPr>
            </a:pPr>
            <a:r>
              <a:t>• Softmax converts logits to probabilities.</a:t>
            </a:r>
          </a:p>
          <a:p>
            <a:pPr>
              <a:spcAft>
                <a:spcPts val="700"/>
              </a:spcAft>
              <a:defRPr sz="1500">
                <a:solidFill>
                  <a:srgbClr val="232830"/>
                </a:solidFill>
              </a:defRPr>
            </a:pPr>
            <a:r>
              <a:t>• Human probability.</a:t>
            </a:r>
          </a:p>
          <a:p>
            <a:pPr>
              <a:spcAft>
                <a:spcPts val="700"/>
              </a:spcAft>
              <a:defRPr sz="1500">
                <a:solidFill>
                  <a:srgbClr val="232830"/>
                </a:solidFill>
              </a:defRPr>
            </a:pPr>
            <a:r>
              <a:t>• AI probability.</a:t>
            </a:r>
          </a:p>
          <a:p>
            <a:pPr>
              <a:spcAft>
                <a:spcPts val="700"/>
              </a:spcAft>
              <a:defRPr sz="1500">
                <a:solidFill>
                  <a:srgbClr val="232830"/>
                </a:solidFill>
              </a:defRPr>
            </a:pPr>
            <a:r>
              <a:t>• Prediction returned for every chunk.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94360" y="6510528"/>
            <a:ext cx="10972800" cy="13716"/>
          </a:xfrm>
          <a:prstGeom prst="rect">
            <a:avLst/>
          </a:prstGeom>
          <a:solidFill>
            <a:srgbClr val="DCE1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10881360" y="6556248"/>
            <a:ext cx="640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46C78"/>
                </a:solidFill>
              </a:defRPr>
            </a:pPr>
            <a:r>
              <a:t>6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42A4FC2C-047E-45A5-965D-8E1E3BF09B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5CAA5A46-5723-F6E1-3895-13B845236062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638" r="233" b="1"/>
          <a:stretch>
            <a:fillRect/>
          </a:stretch>
        </p:blipFill>
        <p:spPr>
          <a:xfrm>
            <a:off x="20" y="1282"/>
            <a:ext cx="12191980" cy="68567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9941958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42A4FC2C-047E-45A5-965D-8E1E3BF09B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FABE6BB3-F93A-CC47-9A0C-CC85923E779B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1760"/>
          <a:stretch>
            <a:fillRect/>
          </a:stretch>
        </p:blipFill>
        <p:spPr>
          <a:xfrm>
            <a:off x="20" y="1282"/>
            <a:ext cx="12191980" cy="68567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2201521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183058"/>
                </a:solidFill>
              </a:defRPr>
            </a:pPr>
            <a:r>
              <a:t>6. Document-Level Decision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932688"/>
            <a:ext cx="107899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646C78"/>
                </a:solidFill>
              </a:defRPr>
            </a:pPr>
            <a:r>
              <a:t>Chunk predictions are aggregated into one overall result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14400" y="1508760"/>
            <a:ext cx="10332720" cy="1051560"/>
          </a:xfrm>
          <a:prstGeom prst="roundRect">
            <a:avLst/>
          </a:prstGeom>
          <a:solidFill>
            <a:srgbClr val="F5F7FA"/>
          </a:solidFill>
          <a:ln>
            <a:solidFill>
              <a:srgbClr val="D7DC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200" b="1">
                <a:solidFill>
                  <a:srgbClr val="183058"/>
                </a:solidFill>
              </a:defRPr>
            </a:pPr>
            <a:r>
              <a:t>Average probabilities across all chunks  →  select the label with the highest average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14400" y="3063240"/>
            <a:ext cx="3108960" cy="23774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C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914400" y="3063240"/>
            <a:ext cx="73152" cy="2377440"/>
          </a:xfrm>
          <a:prstGeom prst="rect">
            <a:avLst/>
          </a:prstGeom>
          <a:solidFill>
            <a:srgbClr val="3782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143000" y="3227832"/>
            <a:ext cx="2697479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900" b="1">
                <a:solidFill>
                  <a:srgbClr val="378250"/>
                </a:solidFill>
              </a:defRPr>
            </a:pPr>
            <a:r>
              <a:t>Human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" y="3749039"/>
            <a:ext cx="2697479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500">
                <a:solidFill>
                  <a:srgbClr val="232830"/>
                </a:solidFill>
              </a:defRPr>
            </a:pPr>
            <a:r>
              <a:t>• Overall Human probability.</a:t>
            </a:r>
          </a:p>
          <a:p>
            <a:pPr>
              <a:spcAft>
                <a:spcPts val="700"/>
              </a:spcAft>
              <a:defRPr sz="1500">
                <a:solidFill>
                  <a:srgbClr val="232830"/>
                </a:solidFill>
              </a:defRPr>
            </a:pPr>
            <a:r>
              <a:t>• Reported with confidence.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26280" y="3063240"/>
            <a:ext cx="3108960" cy="23774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C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4526280" y="3063240"/>
            <a:ext cx="73152" cy="2377440"/>
          </a:xfrm>
          <a:prstGeom prst="rect">
            <a:avLst/>
          </a:prstGeom>
          <a:solidFill>
            <a:srgbClr val="B93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754880" y="3227832"/>
            <a:ext cx="2697479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900" b="1">
                <a:solidFill>
                  <a:srgbClr val="B93C3C"/>
                </a:solidFill>
              </a:defRPr>
            </a:pPr>
            <a:r>
              <a:t>AI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754880" y="3749039"/>
            <a:ext cx="2697479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500">
                <a:solidFill>
                  <a:srgbClr val="232830"/>
                </a:solidFill>
              </a:defRPr>
            </a:pPr>
            <a:r>
              <a:t>• Overall AI probability.</a:t>
            </a:r>
          </a:p>
          <a:p>
            <a:pPr>
              <a:spcAft>
                <a:spcPts val="700"/>
              </a:spcAft>
              <a:defRPr sz="1500">
                <a:solidFill>
                  <a:srgbClr val="232830"/>
                </a:solidFill>
              </a:defRPr>
            </a:pPr>
            <a:r>
              <a:t>• Reported with confidence.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138160" y="3063240"/>
            <a:ext cx="3108960" cy="23774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C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8138160" y="3063240"/>
            <a:ext cx="73152" cy="2377440"/>
          </a:xfrm>
          <a:prstGeom prst="rect">
            <a:avLst/>
          </a:prstGeom>
          <a:solidFill>
            <a:srgbClr val="3769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366760" y="3227832"/>
            <a:ext cx="2697479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900" b="1">
                <a:solidFill>
                  <a:srgbClr val="3769B4"/>
                </a:solidFill>
              </a:defRPr>
            </a:pPr>
            <a:r>
              <a:t>Metadata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66760" y="3749039"/>
            <a:ext cx="2697479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500">
                <a:solidFill>
                  <a:srgbClr val="232830"/>
                </a:solidFill>
              </a:defRPr>
            </a:pPr>
            <a:r>
              <a:t>• Number of chunks.</a:t>
            </a:r>
          </a:p>
          <a:p>
            <a:pPr>
              <a:spcAft>
                <a:spcPts val="700"/>
              </a:spcAft>
              <a:defRPr sz="1500">
                <a:solidFill>
                  <a:srgbClr val="232830"/>
                </a:solidFill>
              </a:defRPr>
            </a:pPr>
            <a:r>
              <a:t>• Per-label probabilities.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94360" y="6510528"/>
            <a:ext cx="10972800" cy="13716"/>
          </a:xfrm>
          <a:prstGeom prst="rect">
            <a:avLst/>
          </a:prstGeom>
          <a:solidFill>
            <a:srgbClr val="DCE1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10881360" y="6556248"/>
            <a:ext cx="640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46C78"/>
                </a:solidFill>
              </a:defRPr>
            </a:pPr>
            <a:r>
              <a:t>7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42A4FC2C-047E-45A5-965D-8E1E3BF09B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3D5C1743-A46F-BB3F-7929-EB173D6522D1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871" r="1" b="1"/>
          <a:stretch>
            <a:fillRect/>
          </a:stretch>
        </p:blipFill>
        <p:spPr>
          <a:xfrm>
            <a:off x="20" y="1282"/>
            <a:ext cx="12191980" cy="68567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5325031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16042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183058"/>
                </a:solidFill>
              </a:defRPr>
            </a:pPr>
            <a:r>
              <a:t>7. Optional Humanization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17320"/>
            <a:ext cx="3200400" cy="42976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C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73152" cy="4297680"/>
          </a:xfrm>
          <a:prstGeom prst="rect">
            <a:avLst/>
          </a:prstGeom>
          <a:solidFill>
            <a:srgbClr val="6946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60120" y="1581912"/>
            <a:ext cx="27889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900" b="1">
                <a:solidFill>
                  <a:srgbClr val="6946AA"/>
                </a:solidFill>
              </a:defRPr>
            </a:pPr>
            <a:r>
              <a:t>Enable Option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2103120"/>
            <a:ext cx="278892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500">
                <a:solidFill>
                  <a:srgbClr val="232830"/>
                </a:solidFill>
              </a:defRPr>
            </a:pPr>
            <a:r>
              <a:t>• User checks the humanization option.</a:t>
            </a:r>
          </a:p>
          <a:p>
            <a:pPr>
              <a:spcAft>
                <a:spcPts val="700"/>
              </a:spcAft>
              <a:defRPr sz="1500">
                <a:solidFill>
                  <a:srgbClr val="232830"/>
                </a:solidFill>
              </a:defRPr>
            </a:pPr>
            <a:r>
              <a:t>• The generation stage runs as an optional branch.</a:t>
            </a:r>
          </a:p>
          <a:p>
            <a:pPr>
              <a:spcAft>
                <a:spcPts val="700"/>
              </a:spcAft>
              <a:defRPr sz="1500">
                <a:solidFill>
                  <a:srgbClr val="232830"/>
                </a:solidFill>
              </a:defRPr>
            </a:pPr>
            <a:r>
              <a:t>• It is not required for detection.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80560" y="1417320"/>
            <a:ext cx="3200400" cy="42976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C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4480560" y="1417320"/>
            <a:ext cx="73152" cy="4297680"/>
          </a:xfrm>
          <a:prstGeom prst="rect">
            <a:avLst/>
          </a:prstGeom>
          <a:solidFill>
            <a:srgbClr val="3769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709160" y="1581912"/>
            <a:ext cx="27889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900" b="1">
                <a:solidFill>
                  <a:srgbClr val="3769B4"/>
                </a:solidFill>
              </a:defRPr>
            </a:pPr>
            <a:r>
              <a:t>T5-small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709160" y="2103120"/>
            <a:ext cx="278892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500">
                <a:solidFill>
                  <a:srgbClr val="232830"/>
                </a:solidFill>
              </a:defRPr>
            </a:pPr>
            <a:r>
              <a:t>• T5Tokenizer.</a:t>
            </a:r>
          </a:p>
          <a:p>
            <a:pPr>
              <a:spcAft>
                <a:spcPts val="700"/>
              </a:spcAft>
              <a:defRPr sz="1500">
                <a:solidFill>
                  <a:srgbClr val="232830"/>
                </a:solidFill>
              </a:defRPr>
            </a:pPr>
            <a:r>
              <a:t>• T5ForConditionalGeneration.</a:t>
            </a:r>
          </a:p>
          <a:p>
            <a:pPr>
              <a:spcAft>
                <a:spcPts val="700"/>
              </a:spcAft>
              <a:defRPr sz="1500">
                <a:solidFill>
                  <a:srgbClr val="232830"/>
                </a:solidFill>
              </a:defRPr>
            </a:pPr>
            <a:r>
              <a:t>• Used as the text generation component.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229600" y="1417320"/>
            <a:ext cx="3200400" cy="42976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C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8229600" y="1417320"/>
            <a:ext cx="73152" cy="4297680"/>
          </a:xfrm>
          <a:prstGeom prst="rect">
            <a:avLst/>
          </a:prstGeom>
          <a:solidFill>
            <a:srgbClr val="3782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458200" y="1581912"/>
            <a:ext cx="27889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900" b="1">
                <a:solidFill>
                  <a:srgbClr val="378250"/>
                </a:solidFill>
              </a:defRPr>
            </a:pPr>
            <a:r>
              <a:t>Output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458200" y="2103120"/>
            <a:ext cx="278892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500">
                <a:solidFill>
                  <a:srgbClr val="232830"/>
                </a:solidFill>
              </a:defRPr>
            </a:pPr>
            <a:r>
              <a:t>• Humanized text is returned separately.</a:t>
            </a:r>
          </a:p>
          <a:p>
            <a:pPr>
              <a:spcAft>
                <a:spcPts val="700"/>
              </a:spcAft>
              <a:defRPr sz="1500">
                <a:solidFill>
                  <a:srgbClr val="232830"/>
                </a:solidFill>
              </a:defRPr>
            </a:pPr>
            <a:r>
              <a:t>• Detection result remains available.</a:t>
            </a:r>
          </a:p>
          <a:p>
            <a:pPr>
              <a:spcAft>
                <a:spcPts val="700"/>
              </a:spcAft>
              <a:defRPr sz="1500">
                <a:solidFill>
                  <a:srgbClr val="232830"/>
                </a:solidFill>
              </a:defRPr>
            </a:pPr>
            <a:r>
              <a:t>• User can compare the outputs.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94360" y="6510528"/>
            <a:ext cx="10972800" cy="13716"/>
          </a:xfrm>
          <a:prstGeom prst="rect">
            <a:avLst/>
          </a:prstGeom>
          <a:solidFill>
            <a:srgbClr val="DCE1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10881360" y="6556248"/>
            <a:ext cx="640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46C78"/>
                </a:solidFill>
              </a:defRPr>
            </a:pPr>
            <a:r>
              <a:t>8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42A4FC2C-047E-45A5-965D-8E1E3BF09B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391E0B96-2602-FB4C-5DD8-EFCD12BD4466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871" r="1" b="1"/>
          <a:stretch>
            <a:fillRect/>
          </a:stretch>
        </p:blipFill>
        <p:spPr>
          <a:xfrm>
            <a:off x="20" y="1282"/>
            <a:ext cx="12191980" cy="68567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6635775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42A4FC2C-047E-45A5-965D-8E1E3BF09B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7D1163CD-8B8B-BFE7-986D-F0CF63CD68D4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4273"/>
          <a:stretch>
            <a:fillRect/>
          </a:stretch>
        </p:blipFill>
        <p:spPr>
          <a:xfrm>
            <a:off x="20" y="1282"/>
            <a:ext cx="12191980" cy="68567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0634158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42A4FC2C-047E-45A5-965D-8E1E3BF09B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9EEB712-A861-737F-E401-C96D46E14D1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55059" y="0"/>
            <a:ext cx="8881884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9625705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183058"/>
                </a:solidFill>
              </a:defRPr>
            </a:pPr>
            <a:r>
              <a:t>8. User Interface &amp; Final Outputs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932688"/>
            <a:ext cx="107899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646C78"/>
                </a:solidFill>
              </a:defRPr>
            </a:pPr>
            <a:r>
              <a:t>One interface connects the complete workflow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371600"/>
            <a:ext cx="329184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C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731520" y="1371600"/>
            <a:ext cx="73152" cy="4480560"/>
          </a:xfrm>
          <a:prstGeom prst="rect">
            <a:avLst/>
          </a:prstGeom>
          <a:solidFill>
            <a:srgbClr val="3769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60120" y="1536192"/>
            <a:ext cx="288036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900" b="1">
                <a:solidFill>
                  <a:srgbClr val="3769B4"/>
                </a:solidFill>
              </a:defRPr>
            </a:pPr>
            <a:r>
              <a:t>Gradio UI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2057400"/>
            <a:ext cx="288036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500">
                <a:solidFill>
                  <a:srgbClr val="232830"/>
                </a:solidFill>
              </a:defRPr>
            </a:pPr>
            <a:r>
              <a:t>• Upload PDF / DOCX / TXT.</a:t>
            </a:r>
          </a:p>
          <a:p>
            <a:pPr>
              <a:spcAft>
                <a:spcPts val="700"/>
              </a:spcAft>
              <a:defRPr sz="1500">
                <a:solidFill>
                  <a:srgbClr val="232830"/>
                </a:solidFill>
              </a:defRPr>
            </a:pPr>
            <a:r>
              <a:t>• Or paste text directly.</a:t>
            </a:r>
          </a:p>
          <a:p>
            <a:pPr>
              <a:spcAft>
                <a:spcPts val="700"/>
              </a:spcAft>
              <a:defRPr sz="1500">
                <a:solidFill>
                  <a:srgbClr val="232830"/>
                </a:solidFill>
              </a:defRPr>
            </a:pPr>
            <a:r>
              <a:t>• Optional humanization checkbox.</a:t>
            </a:r>
          </a:p>
          <a:p>
            <a:pPr>
              <a:spcAft>
                <a:spcPts val="700"/>
              </a:spcAft>
              <a:defRPr sz="1500">
                <a:solidFill>
                  <a:srgbClr val="232830"/>
                </a:solidFill>
              </a:defRPr>
            </a:pPr>
            <a:r>
              <a:t>• Simple interactive workflow.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34840" y="1371600"/>
            <a:ext cx="329184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C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4434840" y="1371600"/>
            <a:ext cx="73152" cy="4480560"/>
          </a:xfrm>
          <a:prstGeom prst="rect">
            <a:avLst/>
          </a:prstGeom>
          <a:solidFill>
            <a:srgbClr val="3782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663440" y="1536192"/>
            <a:ext cx="288036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900" b="1">
                <a:solidFill>
                  <a:srgbClr val="378250"/>
                </a:solidFill>
              </a:defRPr>
            </a:pPr>
            <a:r>
              <a:t>Displayed Results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63440" y="2057400"/>
            <a:ext cx="288036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500">
                <a:solidFill>
                  <a:srgbClr val="232830"/>
                </a:solidFill>
              </a:defRPr>
            </a:pPr>
            <a:r>
              <a:t>• Status.</a:t>
            </a:r>
          </a:p>
          <a:p>
            <a:pPr>
              <a:spcAft>
                <a:spcPts val="700"/>
              </a:spcAft>
              <a:defRPr sz="1500">
                <a:solidFill>
                  <a:srgbClr val="232830"/>
                </a:solidFill>
              </a:defRPr>
            </a:pPr>
            <a:r>
              <a:t>• Extracted text.</a:t>
            </a:r>
          </a:p>
          <a:p>
            <a:pPr>
              <a:spcAft>
                <a:spcPts val="700"/>
              </a:spcAft>
              <a:defRPr sz="1500">
                <a:solidFill>
                  <a:srgbClr val="232830"/>
                </a:solidFill>
              </a:defRPr>
            </a:pPr>
            <a:r>
              <a:t>• AI detection result.</a:t>
            </a:r>
          </a:p>
          <a:p>
            <a:pPr>
              <a:spcAft>
                <a:spcPts val="700"/>
              </a:spcAft>
              <a:defRPr sz="1500">
                <a:solidFill>
                  <a:srgbClr val="232830"/>
                </a:solidFill>
              </a:defRPr>
            </a:pPr>
            <a:r>
              <a:t>• Confidence / probabilities.</a:t>
            </a:r>
          </a:p>
          <a:p>
            <a:pPr>
              <a:spcAft>
                <a:spcPts val="700"/>
              </a:spcAft>
              <a:defRPr sz="1500">
                <a:solidFill>
                  <a:srgbClr val="232830"/>
                </a:solidFill>
              </a:defRPr>
            </a:pPr>
            <a:r>
              <a:t>• Humanized text when enabled.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138160" y="1371600"/>
            <a:ext cx="329184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C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8138160" y="1371600"/>
            <a:ext cx="73152" cy="4480560"/>
          </a:xfrm>
          <a:prstGeom prst="rect">
            <a:avLst/>
          </a:prstGeom>
          <a:solidFill>
            <a:srgbClr val="DC8C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366760" y="1536192"/>
            <a:ext cx="288036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900" b="1">
                <a:solidFill>
                  <a:srgbClr val="DC8C28"/>
                </a:solidFill>
              </a:defRPr>
            </a:pPr>
            <a:r>
              <a:t>Deployment Layer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66760" y="2057400"/>
            <a:ext cx="288036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500">
                <a:solidFill>
                  <a:srgbClr val="232830"/>
                </a:solidFill>
              </a:defRPr>
            </a:pPr>
            <a:r>
              <a:t>• FastAPI backend components.</a:t>
            </a:r>
          </a:p>
          <a:p>
            <a:pPr>
              <a:spcAft>
                <a:spcPts val="700"/>
              </a:spcAft>
              <a:defRPr sz="1500">
                <a:solidFill>
                  <a:srgbClr val="232830"/>
                </a:solidFill>
              </a:defRPr>
            </a:pPr>
            <a:r>
              <a:t>• Uvicorn server.</a:t>
            </a:r>
          </a:p>
          <a:p>
            <a:pPr>
              <a:spcAft>
                <a:spcPts val="700"/>
              </a:spcAft>
              <a:defRPr sz="1500">
                <a:solidFill>
                  <a:srgbClr val="232830"/>
                </a:solidFill>
              </a:defRPr>
            </a:pPr>
            <a:r>
              <a:t>• ngrok for external access.</a:t>
            </a:r>
          </a:p>
          <a:p>
            <a:pPr>
              <a:spcAft>
                <a:spcPts val="700"/>
              </a:spcAft>
              <a:defRPr sz="1500">
                <a:solidFill>
                  <a:srgbClr val="232830"/>
                </a:solidFill>
              </a:defRPr>
            </a:pPr>
            <a:r>
              <a:t>• PyTorch + Transformers.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94360" y="6510528"/>
            <a:ext cx="10972800" cy="13716"/>
          </a:xfrm>
          <a:prstGeom prst="rect">
            <a:avLst/>
          </a:prstGeom>
          <a:solidFill>
            <a:srgbClr val="DCE1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10881360" y="6556248"/>
            <a:ext cx="640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46C78"/>
                </a:solidFill>
              </a:defRPr>
            </a:pPr>
            <a:r>
              <a:t>9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183058"/>
                </a:solidFill>
              </a:defRPr>
            </a:pPr>
            <a:r>
              <a:t>9. Technology Stack &amp; Current Scope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" y="1325880"/>
            <a:ext cx="33832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C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685800" y="1325880"/>
            <a:ext cx="73152" cy="4480560"/>
          </a:xfrm>
          <a:prstGeom prst="rect">
            <a:avLst/>
          </a:prstGeom>
          <a:solidFill>
            <a:srgbClr val="3769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14400" y="1490472"/>
            <a:ext cx="29718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900" b="1">
                <a:solidFill>
                  <a:srgbClr val="3769B4"/>
                </a:solidFill>
              </a:defRPr>
            </a:pPr>
            <a:r>
              <a:t>Core Technologies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011680"/>
            <a:ext cx="29718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500">
                <a:solidFill>
                  <a:srgbClr val="232830"/>
                </a:solidFill>
              </a:defRPr>
            </a:pPr>
            <a:r>
              <a:t>• Python</a:t>
            </a:r>
          </a:p>
          <a:p>
            <a:pPr>
              <a:spcAft>
                <a:spcPts val="700"/>
              </a:spcAft>
              <a:defRPr sz="1500">
                <a:solidFill>
                  <a:srgbClr val="232830"/>
                </a:solidFill>
              </a:defRPr>
            </a:pPr>
            <a:r>
              <a:t>• PyTorch</a:t>
            </a:r>
          </a:p>
          <a:p>
            <a:pPr>
              <a:spcAft>
                <a:spcPts val="700"/>
              </a:spcAft>
              <a:defRPr sz="1500">
                <a:solidFill>
                  <a:srgbClr val="232830"/>
                </a:solidFill>
              </a:defRPr>
            </a:pPr>
            <a:r>
              <a:t>• Hugging Face Transformers</a:t>
            </a:r>
          </a:p>
          <a:p>
            <a:pPr>
              <a:spcAft>
                <a:spcPts val="700"/>
              </a:spcAft>
              <a:defRPr sz="1500">
                <a:solidFill>
                  <a:srgbClr val="232830"/>
                </a:solidFill>
              </a:defRPr>
            </a:pPr>
            <a:r>
              <a:t>• DeBERTa-v2</a:t>
            </a:r>
          </a:p>
          <a:p>
            <a:pPr>
              <a:spcAft>
                <a:spcPts val="700"/>
              </a:spcAft>
              <a:defRPr sz="1500">
                <a:solidFill>
                  <a:srgbClr val="232830"/>
                </a:solidFill>
              </a:defRPr>
            </a:pPr>
            <a:r>
              <a:t>• T5-small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89120" y="1325880"/>
            <a:ext cx="33832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C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4389120" y="1325880"/>
            <a:ext cx="73152" cy="4480560"/>
          </a:xfrm>
          <a:prstGeom prst="rect">
            <a:avLst/>
          </a:prstGeom>
          <a:solidFill>
            <a:srgbClr val="3782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617720" y="1490472"/>
            <a:ext cx="29718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900" b="1">
                <a:solidFill>
                  <a:srgbClr val="378250"/>
                </a:solidFill>
              </a:defRPr>
            </a:pPr>
            <a:r>
              <a:t>Application Layer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17720" y="2011680"/>
            <a:ext cx="29718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500">
                <a:solidFill>
                  <a:srgbClr val="232830"/>
                </a:solidFill>
              </a:defRPr>
            </a:pPr>
            <a:r>
              <a:t>• Gradio UI</a:t>
            </a:r>
          </a:p>
          <a:p>
            <a:pPr>
              <a:spcAft>
                <a:spcPts val="700"/>
              </a:spcAft>
              <a:defRPr sz="1500">
                <a:solidFill>
                  <a:srgbClr val="232830"/>
                </a:solidFill>
              </a:defRPr>
            </a:pPr>
            <a:r>
              <a:t>• FastAPI</a:t>
            </a:r>
          </a:p>
          <a:p>
            <a:pPr>
              <a:spcAft>
                <a:spcPts val="700"/>
              </a:spcAft>
              <a:defRPr sz="1500">
                <a:solidFill>
                  <a:srgbClr val="232830"/>
                </a:solidFill>
              </a:defRPr>
            </a:pPr>
            <a:r>
              <a:t>• Uvicorn</a:t>
            </a:r>
          </a:p>
          <a:p>
            <a:pPr>
              <a:spcAft>
                <a:spcPts val="700"/>
              </a:spcAft>
              <a:defRPr sz="1500">
                <a:solidFill>
                  <a:srgbClr val="232830"/>
                </a:solidFill>
              </a:defRPr>
            </a:pPr>
            <a:r>
              <a:t>• ngrok</a:t>
            </a:r>
          </a:p>
          <a:p>
            <a:pPr>
              <a:spcAft>
                <a:spcPts val="700"/>
              </a:spcAft>
              <a:defRPr sz="1500">
                <a:solidFill>
                  <a:srgbClr val="232830"/>
                </a:solidFill>
              </a:defRPr>
            </a:pPr>
            <a:r>
              <a:t>• PyMuPDF / python-docx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92440" y="1325880"/>
            <a:ext cx="33832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C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8092440" y="1325880"/>
            <a:ext cx="73152" cy="4480560"/>
          </a:xfrm>
          <a:prstGeom prst="rect">
            <a:avLst/>
          </a:prstGeom>
          <a:solidFill>
            <a:srgbClr val="B93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321040" y="1490472"/>
            <a:ext cx="29718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900" b="1">
                <a:solidFill>
                  <a:srgbClr val="B93C3C"/>
                </a:solidFill>
              </a:defRPr>
            </a:pPr>
            <a:r>
              <a:t>Important Scope Note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21040" y="2011680"/>
            <a:ext cx="29718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500">
                <a:solidFill>
                  <a:srgbClr val="232830"/>
                </a:solidFill>
              </a:defRPr>
            </a:pPr>
            <a:r>
              <a:t>• The current notebook performs chunk/document-level detection.</a:t>
            </a:r>
          </a:p>
          <a:p>
            <a:pPr>
              <a:spcAft>
                <a:spcPts val="700"/>
              </a:spcAft>
              <a:defRPr sz="1500">
                <a:solidFill>
                  <a:srgbClr val="232830"/>
                </a:solidFill>
              </a:defRPr>
            </a:pPr>
            <a:r>
              <a:t>• It does not yet return exact suspicious character spans.</a:t>
            </a:r>
          </a:p>
          <a:p>
            <a:pPr>
              <a:spcAft>
                <a:spcPts val="700"/>
              </a:spcAft>
              <a:defRPr sz="1500">
                <a:solidFill>
                  <a:srgbClr val="232830"/>
                </a:solidFill>
              </a:defRPr>
            </a:pPr>
            <a:r>
              <a:t>• True span localization is a future extension.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94360" y="6510528"/>
            <a:ext cx="10972800" cy="13716"/>
          </a:xfrm>
          <a:prstGeom prst="rect">
            <a:avLst/>
          </a:prstGeom>
          <a:solidFill>
            <a:srgbClr val="DCE1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10881360" y="6556248"/>
            <a:ext cx="640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46C78"/>
                </a:solidFill>
              </a:defRPr>
            </a:pPr>
            <a:r>
              <a:t>10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914400" y="1234440"/>
            <a:ext cx="103327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400" b="1">
                <a:solidFill>
                  <a:srgbClr val="183058"/>
                </a:solidFill>
              </a:defRPr>
            </a:pPr>
            <a:r>
              <a:t>END-TO-END WORKFLOW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94360" y="2743200"/>
            <a:ext cx="1417320" cy="1051560"/>
          </a:xfrm>
          <a:prstGeom prst="roundRect">
            <a:avLst/>
          </a:prstGeom>
          <a:solidFill>
            <a:srgbClr val="FFFFFF"/>
          </a:solidFill>
          <a:ln w="27940">
            <a:solidFill>
              <a:srgbClr val="3769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3769B4"/>
                </a:solidFill>
              </a:defRPr>
            </a:pPr>
            <a:r>
              <a:t>INPUT</a:t>
            </a:r>
          </a:p>
        </p:txBody>
      </p:sp>
      <p:sp>
        <p:nvSpPr>
          <p:cNvPr id="5" name="Right Arrow 4"/>
          <p:cNvSpPr/>
          <p:nvPr/>
        </p:nvSpPr>
        <p:spPr>
          <a:xfrm>
            <a:off x="2075688" y="3063240"/>
            <a:ext cx="384048" cy="384048"/>
          </a:xfrm>
          <a:prstGeom prst="rightArrow">
            <a:avLst/>
          </a:prstGeom>
          <a:solidFill>
            <a:srgbClr val="646C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2221992" y="2743200"/>
            <a:ext cx="1417320" cy="1051560"/>
          </a:xfrm>
          <a:prstGeom prst="roundRect">
            <a:avLst/>
          </a:prstGeom>
          <a:solidFill>
            <a:srgbClr val="FFFFFF"/>
          </a:solidFill>
          <a:ln w="27940">
            <a:solidFill>
              <a:srgbClr val="3782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378250"/>
                </a:solidFill>
              </a:defRPr>
            </a:pPr>
            <a:r>
              <a:t>EXTRACT</a:t>
            </a:r>
          </a:p>
        </p:txBody>
      </p:sp>
      <p:sp>
        <p:nvSpPr>
          <p:cNvPr id="7" name="Right Arrow 6"/>
          <p:cNvSpPr/>
          <p:nvPr/>
        </p:nvSpPr>
        <p:spPr>
          <a:xfrm>
            <a:off x="3703320" y="3063240"/>
            <a:ext cx="384048" cy="384048"/>
          </a:xfrm>
          <a:prstGeom prst="rightArrow">
            <a:avLst/>
          </a:prstGeom>
          <a:solidFill>
            <a:srgbClr val="646C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3849624" y="2743200"/>
            <a:ext cx="1417320" cy="1051560"/>
          </a:xfrm>
          <a:prstGeom prst="roundRect">
            <a:avLst/>
          </a:prstGeom>
          <a:solidFill>
            <a:srgbClr val="FFFFFF"/>
          </a:solidFill>
          <a:ln w="27940">
            <a:solidFill>
              <a:srgbClr val="DC8C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DC8C28"/>
                </a:solidFill>
              </a:defRPr>
            </a:pPr>
            <a:r>
              <a:t>CHUNK</a:t>
            </a:r>
          </a:p>
        </p:txBody>
      </p:sp>
      <p:sp>
        <p:nvSpPr>
          <p:cNvPr id="9" name="Right Arrow 8"/>
          <p:cNvSpPr/>
          <p:nvPr/>
        </p:nvSpPr>
        <p:spPr>
          <a:xfrm>
            <a:off x="5330952" y="3063240"/>
            <a:ext cx="384048" cy="384048"/>
          </a:xfrm>
          <a:prstGeom prst="rightArrow">
            <a:avLst/>
          </a:prstGeom>
          <a:solidFill>
            <a:srgbClr val="646C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5477256" y="2743200"/>
            <a:ext cx="1417320" cy="1051560"/>
          </a:xfrm>
          <a:prstGeom prst="roundRect">
            <a:avLst/>
          </a:prstGeom>
          <a:solidFill>
            <a:srgbClr val="FFFFFF"/>
          </a:solidFill>
          <a:ln w="27940">
            <a:solidFill>
              <a:srgbClr val="6946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6946AA"/>
                </a:solidFill>
              </a:defRPr>
            </a:pPr>
            <a:r>
              <a:t>DETECT</a:t>
            </a:r>
          </a:p>
        </p:txBody>
      </p:sp>
      <p:sp>
        <p:nvSpPr>
          <p:cNvPr id="11" name="Right Arrow 10"/>
          <p:cNvSpPr/>
          <p:nvPr/>
        </p:nvSpPr>
        <p:spPr>
          <a:xfrm>
            <a:off x="6958584" y="3063240"/>
            <a:ext cx="384048" cy="384048"/>
          </a:xfrm>
          <a:prstGeom prst="rightArrow">
            <a:avLst/>
          </a:prstGeom>
          <a:solidFill>
            <a:srgbClr val="646C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7104888" y="2743200"/>
            <a:ext cx="1417320" cy="1051560"/>
          </a:xfrm>
          <a:prstGeom prst="roundRect">
            <a:avLst/>
          </a:prstGeom>
          <a:solidFill>
            <a:srgbClr val="FFFFFF"/>
          </a:solidFill>
          <a:ln w="27940">
            <a:solidFill>
              <a:srgbClr val="B9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B93C3C"/>
                </a:solidFill>
              </a:defRPr>
            </a:pPr>
            <a:r>
              <a:t>DECIDE</a:t>
            </a:r>
          </a:p>
        </p:txBody>
      </p:sp>
      <p:sp>
        <p:nvSpPr>
          <p:cNvPr id="13" name="Right Arrow 12"/>
          <p:cNvSpPr/>
          <p:nvPr/>
        </p:nvSpPr>
        <p:spPr>
          <a:xfrm>
            <a:off x="8586216" y="3063240"/>
            <a:ext cx="384048" cy="384048"/>
          </a:xfrm>
          <a:prstGeom prst="rightArrow">
            <a:avLst/>
          </a:prstGeom>
          <a:solidFill>
            <a:srgbClr val="646C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ounded Rectangle 13"/>
          <p:cNvSpPr/>
          <p:nvPr/>
        </p:nvSpPr>
        <p:spPr>
          <a:xfrm>
            <a:off x="8732520" y="2743200"/>
            <a:ext cx="1417320" cy="1051560"/>
          </a:xfrm>
          <a:prstGeom prst="roundRect">
            <a:avLst/>
          </a:prstGeom>
          <a:solidFill>
            <a:srgbClr val="FFFFFF"/>
          </a:solidFill>
          <a:ln w="27940">
            <a:solidFill>
              <a:srgbClr val="6946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6946AA"/>
                </a:solidFill>
              </a:defRPr>
            </a:pPr>
            <a:r>
              <a:t>OPTIONAL</a:t>
            </a:r>
            <a:br/>
            <a:r>
              <a:t>HUMANIZE</a:t>
            </a:r>
          </a:p>
        </p:txBody>
      </p:sp>
      <p:sp>
        <p:nvSpPr>
          <p:cNvPr id="15" name="Right Arrow 14"/>
          <p:cNvSpPr/>
          <p:nvPr/>
        </p:nvSpPr>
        <p:spPr>
          <a:xfrm>
            <a:off x="10213848" y="3063240"/>
            <a:ext cx="384048" cy="384048"/>
          </a:xfrm>
          <a:prstGeom prst="rightArrow">
            <a:avLst/>
          </a:prstGeom>
          <a:solidFill>
            <a:srgbClr val="646C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ounded Rectangle 15"/>
          <p:cNvSpPr/>
          <p:nvPr/>
        </p:nvSpPr>
        <p:spPr>
          <a:xfrm>
            <a:off x="10360152" y="2743200"/>
            <a:ext cx="1417320" cy="1051560"/>
          </a:xfrm>
          <a:prstGeom prst="roundRect">
            <a:avLst/>
          </a:prstGeom>
          <a:solidFill>
            <a:srgbClr val="FFFFFF"/>
          </a:solidFill>
          <a:ln w="27940">
            <a:solidFill>
              <a:srgbClr val="3769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3769B4"/>
                </a:solidFill>
              </a:defRPr>
            </a:pPr>
            <a:r>
              <a:t>OUTPUT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97280" y="4800600"/>
            <a:ext cx="996696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 b="1">
                <a:solidFill>
                  <a:srgbClr val="6946AA"/>
                </a:solidFill>
              </a:defRPr>
            </a:pPr>
            <a:r>
              <a:t>PROJECT TEAM — TEAM 2</a:t>
            </a:r>
          </a:p>
          <a:p>
            <a:pPr algn="ctr">
              <a:defRPr sz="1700">
                <a:solidFill>
                  <a:srgbClr val="232830"/>
                </a:solidFill>
              </a:defRPr>
            </a:pPr>
            <a:r>
              <a:t>Mohamed Khaled  •  Mohamed Aziz  •  Khaled Tarek  •  Abdelrahman Sherif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94360" y="6510528"/>
            <a:ext cx="10972800" cy="13716"/>
          </a:xfrm>
          <a:prstGeom prst="rect">
            <a:avLst/>
          </a:prstGeom>
          <a:solidFill>
            <a:srgbClr val="DCE1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10881360" y="6556248"/>
            <a:ext cx="640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46C78"/>
                </a:solidFill>
              </a:defRPr>
            </a:pPr>
            <a:r>
              <a:t>11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63</TotalTime>
  <Words>695</Words>
  <Application>Microsoft Office PowerPoint</Application>
  <PresentationFormat>Widescreen</PresentationFormat>
  <Paragraphs>154</Paragraphs>
  <Slides>20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3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mohamed khaled</dc:creator>
  <cp:keywords/>
  <dc:description>generated using python-pptx</dc:description>
  <cp:lastModifiedBy>mohamed khaled</cp:lastModifiedBy>
  <cp:revision>5</cp:revision>
  <dcterms:created xsi:type="dcterms:W3CDTF">2013-01-27T09:14:16Z</dcterms:created>
  <dcterms:modified xsi:type="dcterms:W3CDTF">2026-09-03T17:12:01Z</dcterms:modified>
  <cp:category/>
</cp:coreProperties>
</file>